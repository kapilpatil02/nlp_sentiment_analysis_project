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66" r:id="rId5"/>
    <p:sldId id="258" r:id="rId6"/>
    <p:sldId id="260" r:id="rId7"/>
    <p:sldId id="273" r:id="rId8"/>
    <p:sldId id="274" r:id="rId9"/>
    <p:sldId id="275" r:id="rId10"/>
    <p:sldId id="259" r:id="rId11"/>
    <p:sldId id="267" r:id="rId12"/>
    <p:sldId id="261" r:id="rId13"/>
    <p:sldId id="262" r:id="rId14"/>
    <p:sldId id="263" r:id="rId15"/>
    <p:sldId id="268" r:id="rId16"/>
    <p:sldId id="269" r:id="rId17"/>
    <p:sldId id="270" r:id="rId18"/>
    <p:sldId id="264" r:id="rId19"/>
    <p:sldId id="26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6167"/>
    <a:srgbClr val="028090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74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1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57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02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2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97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00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43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60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9F28AB69-124C-020F-F7DA-5EB584564654}"/>
              </a:ext>
            </a:extLst>
          </p:cNvPr>
          <p:cNvSpPr/>
          <p:nvPr/>
        </p:nvSpPr>
        <p:spPr>
          <a:xfrm>
            <a:off x="1503876" y="415636"/>
            <a:ext cx="2335692" cy="233569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  <a:effectLst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2" name="Shape 0"/>
          <p:cNvSpPr/>
          <p:nvPr/>
        </p:nvSpPr>
        <p:spPr>
          <a:xfrm>
            <a:off x="7370618" y="-457200"/>
            <a:ext cx="2743200" cy="274320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  <a:effectLst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F96167">
              <a:alpha val="70000"/>
            </a:srgbClr>
          </a:solidFill>
          <a:ln/>
          <a:effectLst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5" name="Text 3"/>
          <p:cNvSpPr/>
          <p:nvPr/>
        </p:nvSpPr>
        <p:spPr>
          <a:xfrm>
            <a:off x="457200" y="26827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Futura Next Medium" panose="020B0602020204020303" pitchFamily="34" charset="0"/>
                <a:ea typeface="Arial" pitchFamily="34" charset="-122"/>
                <a:cs typeface="Arial" pitchFamily="34" charset="-120"/>
              </a:rPr>
              <a:t>E-commerce Product Reviews</a:t>
            </a:r>
            <a:endParaRPr lang="en-US" sz="1600" dirty="0">
              <a:latin typeface="Futura Next Medium" panose="020B06020202040203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 flipV="1">
            <a:off x="2028613" y="3184144"/>
            <a:ext cx="5086773" cy="45719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98448"/>
            <a:ext cx="8229600" cy="145288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KOLAK" pitchFamily="50" charset="0"/>
                <a:ea typeface="Arial" pitchFamily="34" charset="-122"/>
                <a:cs typeface="Arial" pitchFamily="34" charset="-120"/>
              </a:rPr>
              <a:t>NLP SENTIMENT 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KOLAK" pitchFamily="50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4800" dirty="0">
              <a:solidFill>
                <a:schemeClr val="bg1"/>
              </a:solidFill>
              <a:latin typeface="KOLAK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5366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Futura Next Medium" panose="020B0602020204020303" pitchFamily="34" charset="0"/>
                <a:ea typeface="Arial" pitchFamily="34" charset="-122"/>
                <a:cs typeface="Arial" pitchFamily="34" charset="-120"/>
              </a:rPr>
              <a:t>Kapil Amarsing Patil</a:t>
            </a:r>
            <a:endParaRPr lang="en-US" sz="2000" dirty="0">
              <a:latin typeface="Futura Next Medium" panose="020B0602020204020303" pitchFamily="34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F196B2F-50BC-6744-7781-1BDDFD4A6A4E}"/>
              </a:ext>
            </a:extLst>
          </p:cNvPr>
          <p:cNvSpPr/>
          <p:nvPr/>
        </p:nvSpPr>
        <p:spPr>
          <a:xfrm>
            <a:off x="7670754" y="3462020"/>
            <a:ext cx="1159256" cy="1159256"/>
          </a:xfrm>
          <a:prstGeom prst="ellipse">
            <a:avLst/>
          </a:prstGeom>
          <a:solidFill>
            <a:srgbClr val="F96167">
              <a:alpha val="70000"/>
            </a:srgbClr>
          </a:solidFill>
          <a:ln/>
          <a:effectLst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57BCFDE-8D5D-A817-AC28-B9FCF1D16B42}"/>
              </a:ext>
            </a:extLst>
          </p:cNvPr>
          <p:cNvSpPr/>
          <p:nvPr/>
        </p:nvSpPr>
        <p:spPr>
          <a:xfrm>
            <a:off x="457199" y="39273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wesome Serif Italic VAR Light " pitchFamily="2" charset="0"/>
              </a:rPr>
              <a:t>Data Science and  Gen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60E235-27A4-B5C1-E628-3DD4B9179A98}"/>
              </a:ext>
            </a:extLst>
          </p:cNvPr>
          <p:cNvSpPr/>
          <p:nvPr/>
        </p:nvSpPr>
        <p:spPr>
          <a:xfrm>
            <a:off x="5230091" y="998888"/>
            <a:ext cx="3747654" cy="383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-458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cs typeface="Arial" pitchFamily="34" charset="-120"/>
              </a:rPr>
              <a:t>Project Mentor and Participates Name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3F76D8A-A939-02B2-2BA2-88867EC72D87}"/>
              </a:ext>
            </a:extLst>
          </p:cNvPr>
          <p:cNvSpPr/>
          <p:nvPr/>
        </p:nvSpPr>
        <p:spPr>
          <a:xfrm>
            <a:off x="685800" y="2278512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587F345-E13A-570D-9744-43A8359B98FC}"/>
              </a:ext>
            </a:extLst>
          </p:cNvPr>
          <p:cNvSpPr/>
          <p:nvPr/>
        </p:nvSpPr>
        <p:spPr>
          <a:xfrm>
            <a:off x="685800" y="2855508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DB410F0C-EDCA-6370-EADE-590EEA29B79F}"/>
              </a:ext>
            </a:extLst>
          </p:cNvPr>
          <p:cNvSpPr/>
          <p:nvPr/>
        </p:nvSpPr>
        <p:spPr>
          <a:xfrm>
            <a:off x="685800" y="3397199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56B4181F-660B-01BE-A760-1D9894C5AE31}"/>
              </a:ext>
            </a:extLst>
          </p:cNvPr>
          <p:cNvSpPr/>
          <p:nvPr/>
        </p:nvSpPr>
        <p:spPr>
          <a:xfrm>
            <a:off x="685800" y="3978832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3C4A434D-15B1-EB0F-082B-7EE3B1CD67B9}"/>
              </a:ext>
            </a:extLst>
          </p:cNvPr>
          <p:cNvSpPr/>
          <p:nvPr/>
        </p:nvSpPr>
        <p:spPr>
          <a:xfrm>
            <a:off x="685800" y="4520845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2DCBA1D2-2266-682E-CBDE-CC5889CABEA9}"/>
              </a:ext>
            </a:extLst>
          </p:cNvPr>
          <p:cNvSpPr/>
          <p:nvPr/>
        </p:nvSpPr>
        <p:spPr>
          <a:xfrm>
            <a:off x="685800" y="1735305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DB280-EBCE-D024-8757-1CAF4CADA18A}"/>
              </a:ext>
            </a:extLst>
          </p:cNvPr>
          <p:cNvSpPr txBox="1"/>
          <p:nvPr/>
        </p:nvSpPr>
        <p:spPr>
          <a:xfrm>
            <a:off x="5230091" y="1013772"/>
            <a:ext cx="374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Futura Next" panose="020B0502020204020303" pitchFamily="34" charset="0"/>
              </a:rPr>
              <a:t>MENTOR: ABHISHEKA KUVARI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FD389A-DB10-4941-D090-405DCC059F6E}"/>
              </a:ext>
            </a:extLst>
          </p:cNvPr>
          <p:cNvSpPr txBox="1"/>
          <p:nvPr/>
        </p:nvSpPr>
        <p:spPr>
          <a:xfrm>
            <a:off x="297873" y="998888"/>
            <a:ext cx="405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utura Next" panose="020B0502020204020303" pitchFamily="34" charset="0"/>
              </a:rPr>
              <a:t>TEAM MEMBERS NAME: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19F84B-6131-08DC-2A33-CC0EF8296978}"/>
              </a:ext>
            </a:extLst>
          </p:cNvPr>
          <p:cNvSpPr txBox="1"/>
          <p:nvPr/>
        </p:nvSpPr>
        <p:spPr>
          <a:xfrm>
            <a:off x="960120" y="1605655"/>
            <a:ext cx="405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utura Next" panose="020B0502020204020303" pitchFamily="34" charset="0"/>
              </a:rPr>
              <a:t>KAPIL PATIL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9B9732-C18A-69FE-A9D7-85EA11C9A021}"/>
              </a:ext>
            </a:extLst>
          </p:cNvPr>
          <p:cNvSpPr txBox="1"/>
          <p:nvPr/>
        </p:nvSpPr>
        <p:spPr>
          <a:xfrm>
            <a:off x="960120" y="2164393"/>
            <a:ext cx="405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utura Next" panose="020B0502020204020303" pitchFamily="34" charset="0"/>
              </a:rPr>
              <a:t>PRUTHVIRAJ CHAUHAN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5B9A84-D26A-C9D2-E722-BB34086273B7}"/>
              </a:ext>
            </a:extLst>
          </p:cNvPr>
          <p:cNvSpPr txBox="1"/>
          <p:nvPr/>
        </p:nvSpPr>
        <p:spPr>
          <a:xfrm>
            <a:off x="960120" y="2726216"/>
            <a:ext cx="405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utura Next" panose="020B0502020204020303" pitchFamily="34" charset="0"/>
              </a:rPr>
              <a:t>NAVEEN KUMAR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541BD3-9ABD-F9F5-0049-6658A3F8355C}"/>
              </a:ext>
            </a:extLst>
          </p:cNvPr>
          <p:cNvSpPr txBox="1"/>
          <p:nvPr/>
        </p:nvSpPr>
        <p:spPr>
          <a:xfrm>
            <a:off x="960120" y="3288039"/>
            <a:ext cx="405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utura Next" panose="020B0502020204020303" pitchFamily="34" charset="0"/>
              </a:rPr>
              <a:t>MAYURI WAMAN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980246-D5D6-59FB-9B41-89D2F7640B6C}"/>
              </a:ext>
            </a:extLst>
          </p:cNvPr>
          <p:cNvSpPr txBox="1"/>
          <p:nvPr/>
        </p:nvSpPr>
        <p:spPr>
          <a:xfrm>
            <a:off x="960120" y="3849862"/>
            <a:ext cx="405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utura Next" panose="020B0502020204020303" pitchFamily="34" charset="0"/>
              </a:rPr>
              <a:t>POTLOLA SAI DEEKSHITHA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8EA5C5-3C9B-3E98-3442-712D04A7B99A}"/>
              </a:ext>
            </a:extLst>
          </p:cNvPr>
          <p:cNvSpPr txBox="1"/>
          <p:nvPr/>
        </p:nvSpPr>
        <p:spPr>
          <a:xfrm>
            <a:off x="960120" y="4411685"/>
            <a:ext cx="405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utura Next" panose="020B0502020204020303" pitchFamily="34" charset="0"/>
              </a:rPr>
              <a:t>KAJA NARAHARI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9C1950-F57F-8B3A-177A-9BB5582D0EEB}"/>
              </a:ext>
            </a:extLst>
          </p:cNvPr>
          <p:cNvSpPr txBox="1"/>
          <p:nvPr/>
        </p:nvSpPr>
        <p:spPr>
          <a:xfrm>
            <a:off x="4029595" y="2924088"/>
            <a:ext cx="405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utura Next" panose="020B0502020204020303" pitchFamily="34" charset="0"/>
              </a:rPr>
              <a:t>ANIKIT JARAG</a:t>
            </a: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BBD3B256-6E86-2774-B823-E7166F766CA8}"/>
              </a:ext>
            </a:extLst>
          </p:cNvPr>
          <p:cNvSpPr/>
          <p:nvPr/>
        </p:nvSpPr>
        <p:spPr>
          <a:xfrm>
            <a:off x="3755275" y="3054633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C8FEEA-94FB-7030-1FB5-CA4CCB21085C}"/>
              </a:ext>
            </a:extLst>
          </p:cNvPr>
          <p:cNvCxnSpPr/>
          <p:nvPr/>
        </p:nvCxnSpPr>
        <p:spPr>
          <a:xfrm>
            <a:off x="297873" y="1447800"/>
            <a:ext cx="87560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58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Title 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DC73FE7-6DAB-A3F0-BBBE-5E98AEACBAFC}"/>
              </a:ext>
            </a:extLst>
          </p:cNvPr>
          <p:cNvSpPr/>
          <p:nvPr/>
        </p:nvSpPr>
        <p:spPr>
          <a:xfrm>
            <a:off x="685800" y="1258147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05F00C3-052F-491A-2EBE-68BB3E106D6D}"/>
              </a:ext>
            </a:extLst>
          </p:cNvPr>
          <p:cNvSpPr/>
          <p:nvPr/>
        </p:nvSpPr>
        <p:spPr>
          <a:xfrm>
            <a:off x="921173" y="1173480"/>
            <a:ext cx="426042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anose="020B0604020202020204" pitchFamily="34" charset="0"/>
              </a:rPr>
              <a:t>Exploratory Data Analysis &amp; Visualisation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  <a:cs typeface="Arial" panose="020B0604020202020204" pitchFamily="34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99E08468-7378-453C-DC1B-9DF1EAEC94F6}"/>
              </a:ext>
            </a:extLst>
          </p:cNvPr>
          <p:cNvSpPr/>
          <p:nvPr/>
        </p:nvSpPr>
        <p:spPr>
          <a:xfrm>
            <a:off x="685800" y="181229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457E202C-C575-CB40-CC75-AF2E47614110}"/>
              </a:ext>
            </a:extLst>
          </p:cNvPr>
          <p:cNvSpPr/>
          <p:nvPr/>
        </p:nvSpPr>
        <p:spPr>
          <a:xfrm>
            <a:off x="914400" y="172085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3F76D8A-A939-02B2-2BA2-88867EC72D87}"/>
              </a:ext>
            </a:extLst>
          </p:cNvPr>
          <p:cNvSpPr/>
          <p:nvPr/>
        </p:nvSpPr>
        <p:spPr>
          <a:xfrm>
            <a:off x="685800" y="2366433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D277C25-AD07-1FD5-1D6D-E7F104188B94}"/>
              </a:ext>
            </a:extLst>
          </p:cNvPr>
          <p:cNvSpPr/>
          <p:nvPr/>
        </p:nvSpPr>
        <p:spPr>
          <a:xfrm>
            <a:off x="914400" y="2274993"/>
            <a:ext cx="48429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itchFamily="34" charset="-120"/>
              </a:rPr>
              <a:t>Model Building - Algorithms Tested &amp; Key Decisions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587F345-E13A-570D-9744-43A8359B98FC}"/>
              </a:ext>
            </a:extLst>
          </p:cNvPr>
          <p:cNvSpPr/>
          <p:nvPr/>
        </p:nvSpPr>
        <p:spPr>
          <a:xfrm>
            <a:off x="685800" y="2931513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CAEB716C-8D47-76E8-7172-1AC593406773}"/>
              </a:ext>
            </a:extLst>
          </p:cNvPr>
          <p:cNvSpPr/>
          <p:nvPr/>
        </p:nvSpPr>
        <p:spPr>
          <a:xfrm>
            <a:off x="914400" y="2829136"/>
            <a:ext cx="455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itchFamily="34" charset="-120"/>
              </a:rPr>
              <a:t>Model Evaluation &amp; Performance Metrics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</a:endParaRPr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DB410F0C-EDCA-6370-EADE-590EEA29B79F}"/>
              </a:ext>
            </a:extLst>
          </p:cNvPr>
          <p:cNvSpPr/>
          <p:nvPr/>
        </p:nvSpPr>
        <p:spPr>
          <a:xfrm>
            <a:off x="685800" y="34747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EB5F6089-830D-D826-8AAD-35E20C6B7C9B}"/>
              </a:ext>
            </a:extLst>
          </p:cNvPr>
          <p:cNvSpPr/>
          <p:nvPr/>
        </p:nvSpPr>
        <p:spPr>
          <a:xfrm>
            <a:off x="914400" y="3383280"/>
            <a:ext cx="455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itchFamily="34" charset="-120"/>
              </a:rPr>
              <a:t>Deployment Output - Streamlit Web Application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56B4181F-660B-01BE-A760-1D9894C5AE31}"/>
              </a:ext>
            </a:extLst>
          </p:cNvPr>
          <p:cNvSpPr/>
          <p:nvPr/>
        </p:nvSpPr>
        <p:spPr>
          <a:xfrm>
            <a:off x="685800" y="4049253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3131AE3-A5CC-F16D-C6F6-5E592AC802A5}"/>
              </a:ext>
            </a:extLst>
          </p:cNvPr>
          <p:cNvSpPr/>
          <p:nvPr/>
        </p:nvSpPr>
        <p:spPr>
          <a:xfrm>
            <a:off x="914400" y="394215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itchFamily="34" charset="-120"/>
              </a:rPr>
              <a:t>Business Observations &amp; Requirements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</a:endParaRPr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3C4A434D-15B1-EB0F-082B-7EE3B1CD67B9}"/>
              </a:ext>
            </a:extLst>
          </p:cNvPr>
          <p:cNvSpPr/>
          <p:nvPr/>
        </p:nvSpPr>
        <p:spPr>
          <a:xfrm>
            <a:off x="685800" y="45924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80D697C-33DA-0470-6549-2ABC89464A4C}"/>
              </a:ext>
            </a:extLst>
          </p:cNvPr>
          <p:cNvSpPr/>
          <p:nvPr/>
        </p:nvSpPr>
        <p:spPr>
          <a:xfrm>
            <a:off x="914400" y="45010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itchFamily="34" charset="-120"/>
              </a:rPr>
              <a:t>Feature Categories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6FDF2D18-5D06-F991-02A1-C74FB98C72F8}"/>
              </a:ext>
            </a:extLst>
          </p:cNvPr>
          <p:cNvSpPr/>
          <p:nvPr/>
        </p:nvSpPr>
        <p:spPr>
          <a:xfrm>
            <a:off x="5402580" y="1259416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8AA387C4-C430-6E51-06B8-7C009288F520}"/>
              </a:ext>
            </a:extLst>
          </p:cNvPr>
          <p:cNvSpPr/>
          <p:nvPr/>
        </p:nvSpPr>
        <p:spPr>
          <a:xfrm>
            <a:off x="5637953" y="1173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itchFamily="34" charset="-120"/>
              </a:rPr>
              <a:t>Challenges &amp; How I Overcame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2DCBA1D2-2266-682E-CBDE-CC5889CABEA9}"/>
              </a:ext>
            </a:extLst>
          </p:cNvPr>
          <p:cNvSpPr/>
          <p:nvPr/>
        </p:nvSpPr>
        <p:spPr>
          <a:xfrm>
            <a:off x="5402580" y="1815183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FA497DF8-7291-7E9E-F682-B3AD3F66898C}"/>
              </a:ext>
            </a:extLst>
          </p:cNvPr>
          <p:cNvSpPr/>
          <p:nvPr/>
        </p:nvSpPr>
        <p:spPr>
          <a:xfrm>
            <a:off x="5631180" y="172374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wesome Serif VAR Medium Regula" pitchFamily="2" charset="0"/>
                <a:ea typeface="Arial" pitchFamily="34" charset="-122"/>
                <a:cs typeface="Arial" pitchFamily="34" charset="-120"/>
              </a:rPr>
              <a:t>Conclusion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wesome Serif VAR Medium Regul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939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Business  Objectives  &amp;  Requirements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1199" y="1419014"/>
            <a:ext cx="145627" cy="145627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613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Primary Objective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</a:rPr>
              <a:t>Extract sentiment from customer reviews on e-commerce products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1199" y="2330028"/>
            <a:ext cx="145627" cy="14562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50534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Dataset Details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</a:rPr>
              <a:t>• 1,440 product reviews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</a:rPr>
              <a:t>• Features: Title, Rating (1-5), Review Body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</a:rPr>
              <a:t>• Real e-commerce customer feedback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1199" y="3705014"/>
            <a:ext cx="145627" cy="145627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213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Deployment Requirement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</a:rPr>
              <a:t>Production-ready web application using Streamlit with interactive dashboard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6395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Exploratory  Data  Analysis  &amp;  Visualization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Dataset Composition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• 1,440 reviews analyzed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• Rating distribution: Bimodal (1★ &amp; 5★)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• Average rating: 3.17 ± 1.58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Sentiment Distribution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• Positive: ~45% (rating ≥ 4)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• Negative: ~38% (rating ≤ 2)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• Neutral: ~17% (rating = 3)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Insights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54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Rating Distribution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Strong polarization: Users either love (5</a:t>
            </a:r>
            <a:r>
              <a:rPr lang="en-US" sz="1200" dirty="0">
                <a:solidFill>
                  <a:schemeClr val="accent2"/>
                </a:solidFill>
              </a:rPr>
              <a:t>★</a:t>
            </a:r>
            <a:r>
              <a:rPr lang="en-US" sz="1200" dirty="0">
                <a:solidFill>
                  <a:srgbClr val="363636"/>
                </a:solidFill>
              </a:rPr>
              <a:t>) or hate (1</a:t>
            </a:r>
            <a:r>
              <a:rPr lang="en-US" sz="1200" dirty="0">
                <a:solidFill>
                  <a:schemeClr val="accent2"/>
                </a:solidFill>
              </a:rPr>
              <a:t>★</a:t>
            </a:r>
            <a:r>
              <a:rPr lang="en-US" sz="1200" dirty="0">
                <a:solidFill>
                  <a:srgbClr val="363636"/>
                </a:solidFill>
              </a:rPr>
              <a:t>) products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393192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468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Text Length Analysis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Negative reviews tend to be longer (detailed complaints)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3931920" cy="822960"/>
          </a:xfrm>
          <a:prstGeom prst="rect">
            <a:avLst/>
          </a:prstGeom>
          <a:solidFill>
            <a:srgbClr val="F5F5F5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383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Correlation Analysis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Perfect correlation between rating &amp; sentiment (0.96) - validates labeling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4206240"/>
            <a:ext cx="3931920" cy="731520"/>
          </a:xfrm>
          <a:prstGeom prst="rect">
            <a:avLst/>
          </a:prstGeom>
          <a:solidFill>
            <a:srgbClr val="F5F5F5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Language Processing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Filtered to English-only reviews for model consistency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Data  Preprocessing  Pipeline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594360"/>
          </a:xfrm>
          <a:prstGeom prst="rect">
            <a:avLst/>
          </a:prstGeom>
          <a:solidFill>
            <a:srgbClr val="02809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  <a:reflection blurRad="6350" stA="50000" endA="300" endPos="38500" dist="50800" dir="5400000" sy="-100000" algn="bl" rotWithShape="0"/>
          </a:effectLst>
        </p:spPr>
      </p:sp>
      <p:sp>
        <p:nvSpPr>
          <p:cNvPr id="5" name="Shape 3"/>
          <p:cNvSpPr/>
          <p:nvPr/>
        </p:nvSpPr>
        <p:spPr>
          <a:xfrm>
            <a:off x="1600200" y="1417320"/>
            <a:ext cx="274320" cy="1371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65960"/>
            <a:ext cx="1097280" cy="594360"/>
          </a:xfrm>
          <a:prstGeom prst="rect">
            <a:avLst/>
          </a:prstGeom>
          <a:solidFill>
            <a:srgbClr val="00A896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  <a:reflection blurRad="6350" stA="50000" endA="300" endPos="38500" dist="508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1600200" y="2194560"/>
            <a:ext cx="274320" cy="1371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743200"/>
            <a:ext cx="1097280" cy="594360"/>
          </a:xfrm>
          <a:prstGeom prst="rect">
            <a:avLst/>
          </a:prstGeom>
          <a:solidFill>
            <a:srgbClr val="00A896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  <a:reflection blurRad="6350" stA="50000" endA="300" endPos="38500" dist="50800" dir="5400000" sy="-100000" algn="bl" rotWithShape="0"/>
          </a:effectLst>
        </p:spPr>
      </p:sp>
      <p:sp>
        <p:nvSpPr>
          <p:cNvPr id="9" name="Shape 7"/>
          <p:cNvSpPr/>
          <p:nvPr/>
        </p:nvSpPr>
        <p:spPr>
          <a:xfrm>
            <a:off x="1600200" y="2971800"/>
            <a:ext cx="274320" cy="1371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20440"/>
            <a:ext cx="1097280" cy="594360"/>
          </a:xfrm>
          <a:prstGeom prst="rect">
            <a:avLst/>
          </a:prstGeom>
          <a:solidFill>
            <a:srgbClr val="00A896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  <a:reflection blurRad="6350" stA="50000" endA="300" endPos="38500" dist="50800" dir="5400000" sy="-100000" algn="bl" rotWithShape="0"/>
          </a:effectLst>
        </p:spPr>
      </p:sp>
      <p:sp>
        <p:nvSpPr>
          <p:cNvPr id="11" name="Shape 9"/>
          <p:cNvSpPr/>
          <p:nvPr/>
        </p:nvSpPr>
        <p:spPr>
          <a:xfrm>
            <a:off x="1600200" y="3749040"/>
            <a:ext cx="274320" cy="1371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4297680"/>
            <a:ext cx="1097280" cy="594360"/>
          </a:xfrm>
          <a:prstGeom prst="rect">
            <a:avLst/>
          </a:prstGeom>
          <a:solidFill>
            <a:srgbClr val="F96167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  <a:reflection blurRad="6350" stA="50000" endA="300" endPos="38500" dist="50800" dir="5400000" sy="-100000" algn="bl" rotWithShape="0"/>
          </a:effectLst>
        </p:spPr>
      </p:sp>
      <p:sp>
        <p:nvSpPr>
          <p:cNvPr id="13" name="Text 11"/>
          <p:cNvSpPr/>
          <p:nvPr/>
        </p:nvSpPr>
        <p:spPr>
          <a:xfrm>
            <a:off x="457200" y="1188720"/>
            <a:ext cx="1097280" cy="594360"/>
          </a:xfrm>
          <a:prstGeom prst="rect">
            <a:avLst/>
          </a:prstGeom>
          <a:noFill/>
          <a:ln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Merge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Clean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Extract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11887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1. Text Combination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   Combined 'title' and 'body' fields into unified text for analysis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2. Language Detection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   Applied langdetect library to identify review language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 Language Filtering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   Retained only English reviews for model consistency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4. Text Cleaning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   • Lowercasing  • URL removal  • Hashtag removal• Number removal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   • Punctuation cleaning  • Emoji handling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5. Feature Extraction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   Generated </a:t>
            </a:r>
            <a:r>
              <a:rPr lang="en-US" sz="1300" dirty="0" err="1">
                <a:solidFill>
                  <a:srgbClr val="363636"/>
                </a:solidFill>
              </a:rPr>
              <a:t>text_length</a:t>
            </a:r>
            <a:r>
              <a:rPr lang="en-US" sz="1300" dirty="0">
                <a:solidFill>
                  <a:srgbClr val="363636"/>
                </a:solidFill>
              </a:rPr>
              <a:t>, VADER scores, and sentiment labels</a:t>
            </a:r>
            <a:endParaRPr lang="en-US" sz="16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800A5FE7-465A-E355-92DF-32FDAAD230AF}"/>
              </a:ext>
            </a:extLst>
          </p:cNvPr>
          <p:cNvSpPr/>
          <p:nvPr/>
        </p:nvSpPr>
        <p:spPr>
          <a:xfrm>
            <a:off x="1615440" y="4526280"/>
            <a:ext cx="274320" cy="137160"/>
          </a:xfrm>
          <a:prstGeom prst="rightArrow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7092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Exploratory Data  Analysis -1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Clean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Extract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A650F0-66C9-11B1-37A6-0373EE2D0130}"/>
              </a:ext>
            </a:extLst>
          </p:cNvPr>
          <p:cNvSpPr txBox="1"/>
          <p:nvPr/>
        </p:nvSpPr>
        <p:spPr>
          <a:xfrm>
            <a:off x="806026" y="1233527"/>
            <a:ext cx="350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Rating of the product  from 1 to 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1D8F91B-6131-58FF-EAD5-E6B0F30B5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34" y="1722927"/>
            <a:ext cx="4188804" cy="31691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B1503CA-1A2F-FDCB-6D9D-30A4B8530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364" y="1722927"/>
            <a:ext cx="4179130" cy="316911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5433722-4597-4D46-D49D-2FD0EB06263D}"/>
              </a:ext>
            </a:extLst>
          </p:cNvPr>
          <p:cNvSpPr txBox="1"/>
          <p:nvPr/>
        </p:nvSpPr>
        <p:spPr>
          <a:xfrm>
            <a:off x="5184987" y="1233527"/>
            <a:ext cx="350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Reviews: Text Lengths</a:t>
            </a:r>
          </a:p>
        </p:txBody>
      </p:sp>
    </p:spTree>
    <p:extLst>
      <p:ext uri="{BB962C8B-B14F-4D97-AF65-F5344CB8AC3E}">
        <p14:creationId xmlns:p14="http://schemas.microsoft.com/office/powerpoint/2010/main" val="2307662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204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Exploratory Data  Analysis -2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Clean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Extract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A650F0-66C9-11B1-37A6-0373EE2D0130}"/>
              </a:ext>
            </a:extLst>
          </p:cNvPr>
          <p:cNvSpPr txBox="1"/>
          <p:nvPr/>
        </p:nvSpPr>
        <p:spPr>
          <a:xfrm>
            <a:off x="806026" y="1233527"/>
            <a:ext cx="350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Box Plot: Rating vs Text length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433722-4597-4D46-D49D-2FD0EB06263D}"/>
              </a:ext>
            </a:extLst>
          </p:cNvPr>
          <p:cNvSpPr txBox="1"/>
          <p:nvPr/>
        </p:nvSpPr>
        <p:spPr>
          <a:xfrm>
            <a:off x="5184987" y="1233527"/>
            <a:ext cx="350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Sentiment Mapping from Rating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B3651-3145-0DD5-F254-73BEFAF6D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028" y="1602860"/>
            <a:ext cx="4145965" cy="3289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7FFCF8-41F6-C370-5FA2-97FF3C7A3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09" y="1722926"/>
            <a:ext cx="4254828" cy="316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4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204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Exploratory Data  Analysis -2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Clean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Extract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A650F0-66C9-11B1-37A6-0373EE2D0130}"/>
              </a:ext>
            </a:extLst>
          </p:cNvPr>
          <p:cNvSpPr txBox="1"/>
          <p:nvPr/>
        </p:nvSpPr>
        <p:spPr>
          <a:xfrm>
            <a:off x="806026" y="1233527"/>
            <a:ext cx="350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Box Plot: Text length vs Sentiment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433722-4597-4D46-D49D-2FD0EB06263D}"/>
              </a:ext>
            </a:extLst>
          </p:cNvPr>
          <p:cNvSpPr txBox="1"/>
          <p:nvPr/>
        </p:nvSpPr>
        <p:spPr>
          <a:xfrm>
            <a:off x="5184987" y="1233527"/>
            <a:ext cx="350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Correlation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0D48B7-FBB0-45A2-8726-C9C34E466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09" y="1719545"/>
            <a:ext cx="4454474" cy="3172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C4128-5DD5-F948-5524-D17D33011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360" y="1719545"/>
            <a:ext cx="3741593" cy="303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4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Feature  Categories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Features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Title
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Product review headline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Rating
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1-5 star scale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Body
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Full review 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43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Combined Text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Title + Body merge
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Cleaned Text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Preprocessed content
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Text Length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Character count
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Sentiment Label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0=Neg, 1=Neu, 2=Pos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F5F5F5"/>
          </a:solidFill>
          <a:ln w="38100">
            <a:solidFill>
              <a:srgbClr val="F9616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143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VADER Score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Compound: -1 to +1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VADER Sentiment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Pos/Neu/Neg label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Sentiment Scores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Positive, </a:t>
            </a:r>
            <a:br>
              <a:rPr lang="en-US" sz="1100" i="1" dirty="0">
                <a:solidFill>
                  <a:srgbClr val="363636"/>
                </a:solidFill>
              </a:rPr>
            </a:br>
            <a:r>
              <a:rPr lang="en-US" sz="1100" i="1" dirty="0">
                <a:solidFill>
                  <a:srgbClr val="363636"/>
                </a:solidFill>
              </a:rPr>
              <a:t>  Neutral,</a:t>
            </a:r>
            <a:br>
              <a:rPr lang="en-US" sz="1100" i="1" dirty="0">
                <a:solidFill>
                  <a:srgbClr val="363636"/>
                </a:solidFill>
              </a:rPr>
            </a:br>
            <a:r>
              <a:rPr lang="en-US" sz="1100" i="1" dirty="0">
                <a:solidFill>
                  <a:srgbClr val="363636"/>
                </a:solidFill>
              </a:rPr>
              <a:t>  Negative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812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Feature  Categories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96EA05A8-4EFE-DB00-C33D-52721F67F8F7}"/>
              </a:ext>
            </a:extLst>
          </p:cNvPr>
          <p:cNvSpPr/>
          <p:nvPr/>
        </p:nvSpPr>
        <p:spPr>
          <a:xfrm>
            <a:off x="579120" y="1728216"/>
            <a:ext cx="548640" cy="2926080"/>
          </a:xfrm>
          <a:prstGeom prst="rect">
            <a:avLst/>
          </a:prstGeom>
          <a:solidFill>
            <a:srgbClr val="DC2F0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DA4F4450-779E-33EB-970F-EEF6CC58812F}"/>
              </a:ext>
            </a:extLst>
          </p:cNvPr>
          <p:cNvSpPr/>
          <p:nvPr/>
        </p:nvSpPr>
        <p:spPr>
          <a:xfrm>
            <a:off x="579120" y="14081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373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6783B2A-41C7-7F1A-2522-4042D066F467}"/>
              </a:ext>
            </a:extLst>
          </p:cNvPr>
          <p:cNvSpPr/>
          <p:nvPr/>
        </p:nvSpPr>
        <p:spPr>
          <a:xfrm>
            <a:off x="579120" y="470001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1★</a:t>
            </a:r>
            <a:endParaRPr lang="en-US" sz="120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6E5D5EED-5324-8A01-4FEE-1F5CE99E2AD8}"/>
              </a:ext>
            </a:extLst>
          </p:cNvPr>
          <p:cNvSpPr/>
          <p:nvPr/>
        </p:nvSpPr>
        <p:spPr>
          <a:xfrm>
            <a:off x="1292352" y="3694176"/>
            <a:ext cx="548640" cy="960120"/>
          </a:xfrm>
          <a:prstGeom prst="rect">
            <a:avLst/>
          </a:prstGeom>
          <a:solidFill>
            <a:srgbClr val="FF6B35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7B71D1D-7A27-67E4-6341-57C71CDA76DB}"/>
              </a:ext>
            </a:extLst>
          </p:cNvPr>
          <p:cNvSpPr/>
          <p:nvPr/>
        </p:nvSpPr>
        <p:spPr>
          <a:xfrm>
            <a:off x="1292352" y="33741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3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F6BFC2A-D222-F4CE-C977-1C0FAADF4DE4}"/>
              </a:ext>
            </a:extLst>
          </p:cNvPr>
          <p:cNvSpPr/>
          <p:nvPr/>
        </p:nvSpPr>
        <p:spPr>
          <a:xfrm>
            <a:off x="1292352" y="470001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2★</a:t>
            </a:r>
            <a:endParaRPr lang="en-US" sz="12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C63B9E4C-4E93-ADFB-E83B-5317548DDC6D}"/>
              </a:ext>
            </a:extLst>
          </p:cNvPr>
          <p:cNvSpPr/>
          <p:nvPr/>
        </p:nvSpPr>
        <p:spPr>
          <a:xfrm>
            <a:off x="2005584" y="3145536"/>
            <a:ext cx="548640" cy="1508760"/>
          </a:xfrm>
          <a:prstGeom prst="rect">
            <a:avLst/>
          </a:prstGeom>
          <a:solidFill>
            <a:srgbClr val="FFB703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0415274-7168-9CF1-0183-1F1F15267E16}"/>
              </a:ext>
            </a:extLst>
          </p:cNvPr>
          <p:cNvSpPr/>
          <p:nvPr/>
        </p:nvSpPr>
        <p:spPr>
          <a:xfrm>
            <a:off x="2005584" y="28254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</a:t>
            </a:r>
            <a:endParaRPr lang="en-US" sz="13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677415F3-E7EB-CF3A-6820-1C0ED42F8EB7}"/>
              </a:ext>
            </a:extLst>
          </p:cNvPr>
          <p:cNvSpPr/>
          <p:nvPr/>
        </p:nvSpPr>
        <p:spPr>
          <a:xfrm>
            <a:off x="2005584" y="470001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3★</a:t>
            </a:r>
            <a:endParaRPr lang="en-US" sz="120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633341C7-158B-0C7B-463D-725D23AB791C}"/>
              </a:ext>
            </a:extLst>
          </p:cNvPr>
          <p:cNvSpPr/>
          <p:nvPr/>
        </p:nvSpPr>
        <p:spPr>
          <a:xfrm>
            <a:off x="2718816" y="2295144"/>
            <a:ext cx="548640" cy="2359152"/>
          </a:xfrm>
          <a:prstGeom prst="rect">
            <a:avLst/>
          </a:prstGeom>
          <a:solidFill>
            <a:srgbClr val="90BE6D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A2D2E2A4-2DE7-D321-448C-413085BDFC77}"/>
              </a:ext>
            </a:extLst>
          </p:cNvPr>
          <p:cNvSpPr/>
          <p:nvPr/>
        </p:nvSpPr>
        <p:spPr>
          <a:xfrm>
            <a:off x="2718816" y="19751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</a:t>
            </a:r>
            <a:endParaRPr lang="en-US" sz="13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74ADA34-0C25-649E-FDBA-BA150F83DBD9}"/>
              </a:ext>
            </a:extLst>
          </p:cNvPr>
          <p:cNvSpPr/>
          <p:nvPr/>
        </p:nvSpPr>
        <p:spPr>
          <a:xfrm>
            <a:off x="2718816" y="470001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4★</a:t>
            </a:r>
            <a:endParaRPr lang="en-US" sz="12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2A51713F-E253-533C-86EC-61B30C513592}"/>
              </a:ext>
            </a:extLst>
          </p:cNvPr>
          <p:cNvSpPr/>
          <p:nvPr/>
        </p:nvSpPr>
        <p:spPr>
          <a:xfrm>
            <a:off x="3432048" y="11521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</a:t>
            </a:r>
            <a:endParaRPr lang="en-US" sz="13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D8FA079B-9C35-2E36-E26D-F6486091E42D}"/>
              </a:ext>
            </a:extLst>
          </p:cNvPr>
          <p:cNvSpPr/>
          <p:nvPr/>
        </p:nvSpPr>
        <p:spPr>
          <a:xfrm>
            <a:off x="3432048" y="470001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5★</a:t>
            </a:r>
            <a:endParaRPr lang="en-US" sz="12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6E2F9389-D61A-8F81-E6FF-F003E38D5119}"/>
              </a:ext>
            </a:extLst>
          </p:cNvPr>
          <p:cNvSpPr/>
          <p:nvPr/>
        </p:nvSpPr>
        <p:spPr>
          <a:xfrm rot="16200000">
            <a:off x="115147" y="3015319"/>
            <a:ext cx="5987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1100" dirty="0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CC2F71F1-5A88-8A9E-986C-2FA16D4CCF27}"/>
              </a:ext>
            </a:extLst>
          </p:cNvPr>
          <p:cNvSpPr/>
          <p:nvPr/>
        </p:nvSpPr>
        <p:spPr>
          <a:xfrm>
            <a:off x="3432048" y="1472184"/>
            <a:ext cx="548640" cy="3182112"/>
          </a:xfrm>
          <a:prstGeom prst="rect">
            <a:avLst/>
          </a:prstGeom>
          <a:solidFill>
            <a:srgbClr val="02C39A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C343B9-FE9E-BE5D-9481-669923DCD286}"/>
              </a:ext>
            </a:extLst>
          </p:cNvPr>
          <p:cNvSpPr txBox="1"/>
          <p:nvPr/>
        </p:nvSpPr>
        <p:spPr>
          <a:xfrm>
            <a:off x="254508" y="844367"/>
            <a:ext cx="3726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14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Original Rating Distribution (1-5 Stars)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F859F1-D230-7B4A-BF58-B48FDA921B47}"/>
              </a:ext>
            </a:extLst>
          </p:cNvPr>
          <p:cNvSpPr txBox="1"/>
          <p:nvPr/>
        </p:nvSpPr>
        <p:spPr>
          <a:xfrm>
            <a:off x="4317492" y="86417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14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Sentiment Mapping Logic</a:t>
            </a:r>
            <a:endParaRPr lang="en-US" sz="1400" dirty="0"/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B1B7E2A9-114D-E146-98CF-39EE9664F440}"/>
              </a:ext>
            </a:extLst>
          </p:cNvPr>
          <p:cNvSpPr/>
          <p:nvPr/>
        </p:nvSpPr>
        <p:spPr>
          <a:xfrm>
            <a:off x="4724400" y="1411224"/>
            <a:ext cx="3749040" cy="868680"/>
          </a:xfrm>
          <a:prstGeom prst="rect">
            <a:avLst/>
          </a:prstGeom>
          <a:solidFill>
            <a:srgbClr val="F0F3F5"/>
          </a:solidFill>
          <a:ln w="25400">
            <a:solidFill>
              <a:srgbClr val="02C39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99E5F14D-DD40-D989-AB48-2CF5EE126DCF}"/>
              </a:ext>
            </a:extLst>
          </p:cNvPr>
          <p:cNvSpPr/>
          <p:nvPr/>
        </p:nvSpPr>
        <p:spPr>
          <a:xfrm>
            <a:off x="4861560" y="1548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5★ + 4★</a:t>
            </a:r>
            <a:endParaRPr lang="en-US" sz="1400" dirty="0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8BD521BB-355B-CEF5-1201-797423DDE3C5}"/>
              </a:ext>
            </a:extLst>
          </p:cNvPr>
          <p:cNvSpPr/>
          <p:nvPr/>
        </p:nvSpPr>
        <p:spPr>
          <a:xfrm>
            <a:off x="6004560" y="1502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→</a:t>
            </a:r>
            <a:endParaRPr lang="en-US" sz="2800" dirty="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1888610A-CEF0-5FEC-DEB3-51DCE8F0D3C2}"/>
              </a:ext>
            </a:extLst>
          </p:cNvPr>
          <p:cNvSpPr/>
          <p:nvPr/>
        </p:nvSpPr>
        <p:spPr>
          <a:xfrm>
            <a:off x="6461760" y="14569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Positive</a:t>
            </a:r>
            <a:endParaRPr lang="en-US" sz="1800" dirty="0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03D35CEB-FD87-5C75-6052-C447AC935544}"/>
              </a:ext>
            </a:extLst>
          </p:cNvPr>
          <p:cNvSpPr/>
          <p:nvPr/>
        </p:nvSpPr>
        <p:spPr>
          <a:xfrm>
            <a:off x="6461760" y="18227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718 reviews (50.9%)</a:t>
            </a:r>
            <a:endParaRPr lang="en-US" sz="1100" dirty="0"/>
          </a:p>
        </p:txBody>
      </p:sp>
      <p:sp>
        <p:nvSpPr>
          <p:cNvPr id="43" name="Shape 26">
            <a:extLst>
              <a:ext uri="{FF2B5EF4-FFF2-40B4-BE49-F238E27FC236}">
                <a16:creationId xmlns:a16="http://schemas.microsoft.com/office/drawing/2014/main" id="{D8817375-108A-A2C2-2086-DEC6BB088B0B}"/>
              </a:ext>
            </a:extLst>
          </p:cNvPr>
          <p:cNvSpPr/>
          <p:nvPr/>
        </p:nvSpPr>
        <p:spPr>
          <a:xfrm>
            <a:off x="4724400" y="2462784"/>
            <a:ext cx="3749040" cy="868680"/>
          </a:xfrm>
          <a:prstGeom prst="rect">
            <a:avLst/>
          </a:prstGeom>
          <a:solidFill>
            <a:srgbClr val="F0F3F5"/>
          </a:solidFill>
          <a:ln w="25400">
            <a:solidFill>
              <a:srgbClr val="FFB70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2208FA8E-5ECD-761B-97C8-4D6CABE563A4}"/>
              </a:ext>
            </a:extLst>
          </p:cNvPr>
          <p:cNvSpPr/>
          <p:nvPr/>
        </p:nvSpPr>
        <p:spPr>
          <a:xfrm>
            <a:off x="4861560" y="25999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3★</a:t>
            </a:r>
            <a:endParaRPr lang="en-US" sz="1400" dirty="0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F7519C5A-35DE-0ED8-ADCB-A6C468188D25}"/>
              </a:ext>
            </a:extLst>
          </p:cNvPr>
          <p:cNvSpPr/>
          <p:nvPr/>
        </p:nvSpPr>
        <p:spPr>
          <a:xfrm>
            <a:off x="6004560" y="2554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703"/>
                </a:solidFill>
              </a:rPr>
              <a:t>→</a:t>
            </a:r>
            <a:endParaRPr lang="en-US" sz="2800" dirty="0"/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AAAD9892-CBC9-03B8-0BF4-FC05FE2D2EC9}"/>
              </a:ext>
            </a:extLst>
          </p:cNvPr>
          <p:cNvSpPr/>
          <p:nvPr/>
        </p:nvSpPr>
        <p:spPr>
          <a:xfrm>
            <a:off x="6461760" y="25085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Neutral</a:t>
            </a:r>
            <a:endParaRPr lang="en-US" sz="1800" dirty="0"/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3A0DDF36-ADBD-AA62-434D-8473D3420F4C}"/>
              </a:ext>
            </a:extLst>
          </p:cNvPr>
          <p:cNvSpPr/>
          <p:nvPr/>
        </p:nvSpPr>
        <p:spPr>
          <a:xfrm>
            <a:off x="6461760" y="28742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 reviews (14%)</a:t>
            </a:r>
            <a:endParaRPr lang="en-US" sz="1100" dirty="0"/>
          </a:p>
        </p:txBody>
      </p:sp>
      <p:sp>
        <p:nvSpPr>
          <p:cNvPr id="48" name="Shape 31">
            <a:extLst>
              <a:ext uri="{FF2B5EF4-FFF2-40B4-BE49-F238E27FC236}">
                <a16:creationId xmlns:a16="http://schemas.microsoft.com/office/drawing/2014/main" id="{BCD87F71-E393-34AE-9705-3972B67D262D}"/>
              </a:ext>
            </a:extLst>
          </p:cNvPr>
          <p:cNvSpPr/>
          <p:nvPr/>
        </p:nvSpPr>
        <p:spPr>
          <a:xfrm>
            <a:off x="4724400" y="3514344"/>
            <a:ext cx="3749040" cy="868680"/>
          </a:xfrm>
          <a:prstGeom prst="rect">
            <a:avLst/>
          </a:prstGeom>
          <a:solidFill>
            <a:srgbClr val="F0F3F5"/>
          </a:solidFill>
          <a:ln w="25400">
            <a:solidFill>
              <a:srgbClr val="DC2F0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32">
            <a:extLst>
              <a:ext uri="{FF2B5EF4-FFF2-40B4-BE49-F238E27FC236}">
                <a16:creationId xmlns:a16="http://schemas.microsoft.com/office/drawing/2014/main" id="{4B9A6D58-AE03-3EAE-5506-B891E54A4BC2}"/>
              </a:ext>
            </a:extLst>
          </p:cNvPr>
          <p:cNvSpPr/>
          <p:nvPr/>
        </p:nvSpPr>
        <p:spPr>
          <a:xfrm>
            <a:off x="4861560" y="36515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2★ + 1★</a:t>
            </a:r>
            <a:endParaRPr lang="en-US" sz="1400" dirty="0"/>
          </a:p>
        </p:txBody>
      </p:sp>
      <p:sp>
        <p:nvSpPr>
          <p:cNvPr id="50" name="Text 33">
            <a:extLst>
              <a:ext uri="{FF2B5EF4-FFF2-40B4-BE49-F238E27FC236}">
                <a16:creationId xmlns:a16="http://schemas.microsoft.com/office/drawing/2014/main" id="{49EF0824-2BB8-0749-4FCA-55820421C8B5}"/>
              </a:ext>
            </a:extLst>
          </p:cNvPr>
          <p:cNvSpPr/>
          <p:nvPr/>
        </p:nvSpPr>
        <p:spPr>
          <a:xfrm>
            <a:off x="6004560" y="3605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F02"/>
                </a:solidFill>
              </a:rPr>
              <a:t>→</a:t>
            </a:r>
            <a:endParaRPr lang="en-US" sz="2800" dirty="0"/>
          </a:p>
        </p:txBody>
      </p:sp>
      <p:sp>
        <p:nvSpPr>
          <p:cNvPr id="51" name="Text 34">
            <a:extLst>
              <a:ext uri="{FF2B5EF4-FFF2-40B4-BE49-F238E27FC236}">
                <a16:creationId xmlns:a16="http://schemas.microsoft.com/office/drawing/2014/main" id="{1B668348-B772-9F61-B4A8-F1D46F56FCA7}"/>
              </a:ext>
            </a:extLst>
          </p:cNvPr>
          <p:cNvSpPr/>
          <p:nvPr/>
        </p:nvSpPr>
        <p:spPr>
          <a:xfrm>
            <a:off x="6461760" y="356006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F0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Negative</a:t>
            </a:r>
            <a:endParaRPr lang="en-US" sz="1800" dirty="0"/>
          </a:p>
        </p:txBody>
      </p:sp>
      <p:sp>
        <p:nvSpPr>
          <p:cNvPr id="52" name="Text 35">
            <a:extLst>
              <a:ext uri="{FF2B5EF4-FFF2-40B4-BE49-F238E27FC236}">
                <a16:creationId xmlns:a16="http://schemas.microsoft.com/office/drawing/2014/main" id="{8D4182EE-C2D1-B989-9978-845815424204}"/>
              </a:ext>
            </a:extLst>
          </p:cNvPr>
          <p:cNvSpPr/>
          <p:nvPr/>
        </p:nvSpPr>
        <p:spPr>
          <a:xfrm>
            <a:off x="6461760" y="39258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497 reviews (35.2%)</a:t>
            </a:r>
            <a:endParaRPr lang="en-US" sz="1100" dirty="0"/>
          </a:p>
        </p:txBody>
      </p:sp>
      <p:sp>
        <p:nvSpPr>
          <p:cNvPr id="53" name="Shape 36">
            <a:extLst>
              <a:ext uri="{FF2B5EF4-FFF2-40B4-BE49-F238E27FC236}">
                <a16:creationId xmlns:a16="http://schemas.microsoft.com/office/drawing/2014/main" id="{02B2E4D5-A9FD-0FB1-E992-A8EABA620A47}"/>
              </a:ext>
            </a:extLst>
          </p:cNvPr>
          <p:cNvSpPr/>
          <p:nvPr/>
        </p:nvSpPr>
        <p:spPr>
          <a:xfrm>
            <a:off x="4724400" y="4474464"/>
            <a:ext cx="3749040" cy="454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4" name="Text 37">
            <a:extLst>
              <a:ext uri="{FF2B5EF4-FFF2-40B4-BE49-F238E27FC236}">
                <a16:creationId xmlns:a16="http://schemas.microsoft.com/office/drawing/2014/main" id="{91789392-B426-0435-AC3E-4CD4D2C81BEC}"/>
              </a:ext>
            </a:extLst>
          </p:cNvPr>
          <p:cNvSpPr/>
          <p:nvPr/>
        </p:nvSpPr>
        <p:spPr>
          <a:xfrm>
            <a:off x="4724400" y="4474464"/>
            <a:ext cx="3749040" cy="454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Insight: Polarized distribution - customers either love (1★) or hate (5★) products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824216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Model Building - Algorithms &amp; Key Decisions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Decision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931920" cy="1108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TF-IDF Vectorization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N-grams: 1-2 (unigrams + bigrams)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Max features: 5,000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Captures word importance &amp; context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• Better than simple bag-of-words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Tested (5 Models)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058614"/>
              </p:ext>
            </p:extLst>
          </p:nvPr>
        </p:nvGraphicFramePr>
        <p:xfrm>
          <a:off x="457200" y="3223260"/>
          <a:ext cx="4114800" cy="1737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Linear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Class balancing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Multinomial NB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Probabilistic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Fast baseline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Linear SVC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Max-margin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Class balancing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Ensemble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100 trees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Ensemble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Sequential learning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846320" y="153797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sp>
      <p:sp>
        <p:nvSpPr>
          <p:cNvPr id="11" name="Text 8"/>
          <p:cNvSpPr/>
          <p:nvPr/>
        </p:nvSpPr>
        <p:spPr>
          <a:xfrm>
            <a:off x="5303520" y="1417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Train-Test Split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80% training, 20% testing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Stratified split to maintain class distribution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46320" y="233934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sp>
      <p:sp>
        <p:nvSpPr>
          <p:cNvPr id="13" name="Text 10"/>
          <p:cNvSpPr/>
          <p:nvPr/>
        </p:nvSpPr>
        <p:spPr>
          <a:xfrm>
            <a:off x="530352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Class Imbalance Handling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Applied class_weight='balanced'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Prevents bias toward majority class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46320" y="321310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sp>
      <p:sp>
        <p:nvSpPr>
          <p:cNvPr id="15" name="Text 12"/>
          <p:cNvSpPr/>
          <p:nvPr/>
        </p:nvSpPr>
        <p:spPr>
          <a:xfrm>
            <a:off x="5303520" y="3063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Stop word Strategy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Retained negation words (not, no, never)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Critical for sentiment nuance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46320" y="4006427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sp>
      <p:sp>
        <p:nvSpPr>
          <p:cNvPr id="17" name="Text 14"/>
          <p:cNvSpPr/>
          <p:nvPr/>
        </p:nvSpPr>
        <p:spPr>
          <a:xfrm>
            <a:off x="5303520" y="3886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VADER Integration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Incorporated rule-based sentiment analysis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Provides interpretable baseline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Model Evaluation &amp; Performance Metrics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680135"/>
              </p:ext>
            </p:extLst>
          </p:nvPr>
        </p:nvGraphicFramePr>
        <p:xfrm>
          <a:off x="457200" y="1371600"/>
          <a:ext cx="8229600" cy="1661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Weakness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363636"/>
                          </a:solidFill>
                        </a:rPr>
                        <a:t>Logistic Regression</a:t>
                      </a: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77%</a:t>
                      </a: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Overall good, fast</a:t>
                      </a: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Linear assumption</a:t>
                      </a: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Multinomial NB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75%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Very fast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Independence assumption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Linear SVC ✓</a:t>
                      </a:r>
                      <a:endParaRPr lang="en-US" sz="1100" b="1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28090"/>
                          </a:solidFill>
                        </a:rPr>
                        <a:t>79%</a:t>
                      </a: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28090"/>
                          </a:solidFill>
                        </a:rPr>
                        <a:t>Best Boundary</a:t>
                      </a: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28090"/>
                          </a:solidFill>
                        </a:rPr>
                        <a:t>Computationally heavy</a:t>
                      </a: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76%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Non-linear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Slower training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76%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Robust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Risk of overfit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8229600" cy="1737360"/>
          </a:xfrm>
          <a:prstGeom prst="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Selected Model: Linear SVC</a:t>
            </a:r>
            <a:endParaRPr lang="en-US" sz="2400" dirty="0"/>
          </a:p>
        </p:txBody>
      </p:sp>
      <p:sp>
        <p:nvSpPr>
          <p:cNvPr id="5" name="Shape 5"/>
          <p:cNvSpPr/>
          <p:nvPr/>
        </p:nvSpPr>
        <p:spPr>
          <a:xfrm>
            <a:off x="685800" y="3794760"/>
            <a:ext cx="19202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8580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0" y="3794760"/>
            <a:ext cx="19202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74320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Precision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3794760"/>
            <a:ext cx="19202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80060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Recall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0" y="3794760"/>
            <a:ext cx="16560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3886200"/>
            <a:ext cx="165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858000" y="4297680"/>
            <a:ext cx="165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Deployment - Streamlit Web Application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458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39" y="1463040"/>
            <a:ext cx="2011680" cy="640080"/>
          </a:xfrm>
          <a:prstGeom prst="rect">
            <a:avLst/>
          </a:prstGeom>
          <a:solidFill>
            <a:srgbClr val="02809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  <a:reflection blurRad="6350" stA="50000" endA="300" endPos="38500" dist="50800" dir="5400000" sy="-100000" algn="bl" rotWithShape="0"/>
          </a:effectLst>
        </p:spPr>
      </p:sp>
      <p:sp>
        <p:nvSpPr>
          <p:cNvPr id="6" name="Text 4"/>
          <p:cNvSpPr/>
          <p:nvPr/>
        </p:nvSpPr>
        <p:spPr>
          <a:xfrm>
            <a:off x="100584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Interface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Streamlit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691640"/>
            <a:ext cx="365760" cy="1828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3566159" y="1463040"/>
            <a:ext cx="2011680" cy="640080"/>
          </a:xfrm>
          <a:prstGeom prst="rect">
            <a:avLst/>
          </a:prstGeom>
          <a:solidFill>
            <a:srgbClr val="00A896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  <a:reflection blurRad="6350" stA="50000" endA="300" endPos="38500" dist="50800" dir="5400000" sy="-100000" algn="bl" rotWithShape="0"/>
          </a:effectLst>
        </p:spPr>
      </p:sp>
      <p:sp>
        <p:nvSpPr>
          <p:cNvPr id="9" name="Text 7"/>
          <p:cNvSpPr/>
          <p:nvPr/>
        </p:nvSpPr>
        <p:spPr>
          <a:xfrm>
            <a:off x="356616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Processing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TF-IDF Vectorizer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691640"/>
            <a:ext cx="365760" cy="1828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79" y="1463040"/>
            <a:ext cx="2011680" cy="640080"/>
          </a:xfrm>
          <a:prstGeom prst="rect">
            <a:avLst/>
          </a:prstGeom>
          <a:solidFill>
            <a:srgbClr val="F96167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  <a:reflection blurRad="6350" stA="50000" endA="300" endPos="38500" dist="50800" dir="5400000" sy="-100000" algn="bl" rotWithShape="0"/>
          </a:effectLst>
        </p:spPr>
      </p:sp>
      <p:sp>
        <p:nvSpPr>
          <p:cNvPr id="12" name="Text 10"/>
          <p:cNvSpPr/>
          <p:nvPr/>
        </p:nvSpPr>
        <p:spPr>
          <a:xfrm>
            <a:off x="612648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ML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Linear SVM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2440" y="2834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✓ Real-time Prediction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Input custom review text for instant sentiment analysis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✓ VADER Comparison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Side-by-side ML vs rule-based predictions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✓ Interactive Visualizations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Dataset distribution charts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</a:rPr>
              <a:t>✓ Word-level Analysis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  VADER lexicon breakdown for input reviews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250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655673"/>
              </p:ext>
            </p:extLst>
          </p:nvPr>
        </p:nvGraphicFramePr>
        <p:xfrm>
          <a:off x="4754880" y="2834640"/>
          <a:ext cx="3931920" cy="184186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Frontend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Streamlit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ML Framework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scikit-learn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NLP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NLTK, VADER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Visualization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Matplotlib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Deployment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363636"/>
                          </a:solidFill>
                        </a:rPr>
                        <a:t>Streamlit</a:t>
                      </a: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 / </a:t>
                      </a:r>
                      <a:r>
                        <a:rPr lang="en-US" sz="1100" dirty="0" err="1">
                          <a:solidFill>
                            <a:srgbClr val="363636"/>
                          </a:solidFill>
                        </a:rPr>
                        <a:t>FastAPI</a:t>
                      </a: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 (Optional)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Serialization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63636"/>
                          </a:solidFill>
                        </a:rPr>
                        <a:t>Pickle (.pkl)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Screenshot- 1 - </a:t>
            </a:r>
            <a:r>
              <a:rPr lang="en-US" sz="3200" b="1" dirty="0" err="1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 Web Application </a:t>
            </a:r>
            <a:endParaRPr lang="en-US" sz="3200" dirty="0">
              <a:latin typeface="Awesome Serif Italic VAR Regula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63C7D8-54F6-D14B-3FF2-320ED10AB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59" y="1577340"/>
            <a:ext cx="7203282" cy="263505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522172-5375-FCE3-6CF1-E1B4EE3E120C}"/>
              </a:ext>
            </a:extLst>
          </p:cNvPr>
          <p:cNvSpPr txBox="1"/>
          <p:nvPr/>
        </p:nvSpPr>
        <p:spPr>
          <a:xfrm>
            <a:off x="970359" y="975360"/>
            <a:ext cx="2542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Enter the Review here:-</a:t>
            </a:r>
          </a:p>
        </p:txBody>
      </p:sp>
    </p:spTree>
    <p:extLst>
      <p:ext uri="{BB962C8B-B14F-4D97-AF65-F5344CB8AC3E}">
        <p14:creationId xmlns:p14="http://schemas.microsoft.com/office/powerpoint/2010/main" val="4290810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E66957-8CB4-CF32-ED54-86AB35AB10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19" r="9661"/>
          <a:stretch/>
        </p:blipFill>
        <p:spPr>
          <a:xfrm>
            <a:off x="457200" y="1022400"/>
            <a:ext cx="5958840" cy="30987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2" name="Shape 0"/>
          <p:cNvSpPr/>
          <p:nvPr/>
        </p:nvSpPr>
        <p:spPr>
          <a:xfrm>
            <a:off x="6773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Screenshot- 2 - </a:t>
            </a:r>
            <a:r>
              <a:rPr lang="en-US" sz="3200" b="1" dirty="0" err="1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 Web Application </a:t>
            </a:r>
            <a:endParaRPr lang="en-US" sz="3200" dirty="0">
              <a:latin typeface="Awesome Serif Italic VAR Regul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452A7-61F4-4B49-3570-60257BE149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68" r="4327"/>
          <a:stretch/>
        </p:blipFill>
        <p:spPr>
          <a:xfrm>
            <a:off x="4221480" y="2152205"/>
            <a:ext cx="4465320" cy="278195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80455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Screenshot- 3 - </a:t>
            </a:r>
            <a:r>
              <a:rPr lang="en-US" sz="3200" b="1" dirty="0" err="1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 Web Application </a:t>
            </a:r>
            <a:endParaRPr lang="en-US" sz="3200" dirty="0">
              <a:latin typeface="Awesome Serif Italic VAR Regul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EBC961-73E4-A15A-9AA3-4D4866751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46605"/>
            <a:ext cx="5830494" cy="267354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F399DD-5885-0BCA-F9C5-2C51AF65E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961" y="3086100"/>
            <a:ext cx="5731839" cy="182511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262160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  <a:effectLst>
            <a:reflection blurRad="6350" stA="50000" endA="300" endPos="38500" dist="508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Challenges &amp; How I Overcame Them</a:t>
            </a:r>
            <a:endParaRPr lang="en-US" sz="3200" dirty="0">
              <a:latin typeface="Awesome Serif Italic VAR Regul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FFEBEE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⚠️ Class Imbalance
</a:t>
            </a:r>
            <a:r>
              <a:rPr lang="en-US" sz="1100" dirty="0">
                <a:solidFill>
                  <a:srgbClr val="363636"/>
                </a:solidFill>
              </a:rPr>
              <a:t>Dataset had uneven distribution across sentiment classes (more positive/negative than neutral)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417320"/>
            <a:ext cx="274320" cy="1371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097280"/>
            <a:ext cx="3657600" cy="822960"/>
          </a:xfrm>
          <a:prstGeom prst="rect">
            <a:avLst/>
          </a:prstGeom>
          <a:solidFill>
            <a:srgbClr val="E8F5E9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188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 Solution
</a:t>
            </a:r>
            <a:r>
              <a:rPr lang="en-US" sz="1100" dirty="0">
                <a:solidFill>
                  <a:srgbClr val="363636"/>
                </a:solidFill>
              </a:rPr>
              <a:t>Applied class_weight='balanced' in models to penalize majority class errors more heavily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114800" cy="822960"/>
          </a:xfrm>
          <a:prstGeom prst="rect">
            <a:avLst/>
          </a:prstGeom>
          <a:solidFill>
            <a:srgbClr val="FFEBEE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⚠️ Text Noise
</a:t>
            </a:r>
            <a:r>
              <a:rPr lang="en-US" sz="1100" dirty="0">
                <a:solidFill>
                  <a:srgbClr val="363636"/>
                </a:solidFill>
              </a:rPr>
              <a:t>Reviews contained URLs, emojis, special characters and inconsistent formatting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274320" cy="13716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057400"/>
            <a:ext cx="3657600" cy="822960"/>
          </a:xfrm>
          <a:prstGeom prst="rect">
            <a:avLst/>
          </a:prstGeom>
          <a:solidFill>
            <a:srgbClr val="E8F5E9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148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✓ Solution
</a:t>
            </a:r>
            <a:r>
              <a:rPr lang="en-US" sz="1100" dirty="0">
                <a:solidFill>
                  <a:srgbClr val="363636"/>
                </a:solidFill>
              </a:rPr>
              <a:t>Built comprehensive preprocessing pipeline: URL removal, emoji handling, punctuation normalization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14800" cy="822960"/>
          </a:xfrm>
          <a:prstGeom prst="rect">
            <a:avLst/>
          </a:prstGeom>
          <a:solidFill>
            <a:srgbClr val="FFEBEE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⚠️ Language Diversity
</a:t>
            </a:r>
            <a:r>
              <a:rPr lang="en-US" sz="1100" dirty="0">
                <a:solidFill>
                  <a:srgbClr val="363636"/>
                </a:solidFill>
              </a:rPr>
              <a:t>Dataset contained non-English reviews that would confuse English-trained models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337560"/>
            <a:ext cx="274320" cy="13716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3017520"/>
            <a:ext cx="3657600" cy="82296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✓ Solution
</a:t>
            </a:r>
            <a:r>
              <a:rPr lang="en-US" sz="1100" dirty="0">
                <a:solidFill>
                  <a:srgbClr val="363636"/>
                </a:solidFill>
              </a:rPr>
              <a:t>Used langdetect library to filter and retain only English reviews for consistent model performance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4114800" cy="822960"/>
          </a:xfrm>
          <a:prstGeom prst="rect">
            <a:avLst/>
          </a:prstGeom>
          <a:solidFill>
            <a:srgbClr val="FFEBEE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69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⚠️ Negation Sensitivity
</a:t>
            </a:r>
            <a:r>
              <a:rPr lang="en-US" sz="1100" dirty="0">
                <a:solidFill>
                  <a:srgbClr val="363636"/>
                </a:solidFill>
              </a:rPr>
              <a:t>Standard stopword removal eliminated important sentiment-reversing words (not, never, no)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4297680"/>
            <a:ext cx="274320" cy="1371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3977640"/>
            <a:ext cx="3657600" cy="822960"/>
          </a:xfrm>
          <a:prstGeom prst="rect">
            <a:avLst/>
          </a:prstGeom>
          <a:solidFill>
            <a:srgbClr val="E8F5E9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✓ Solution
</a:t>
            </a:r>
            <a:r>
              <a:rPr lang="en-US" sz="1100" dirty="0">
                <a:solidFill>
                  <a:srgbClr val="363636"/>
                </a:solidFill>
              </a:rPr>
              <a:t>Customized stopword list to preserve negation terms, improving sentiment detection accuracy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1540" y="-914400"/>
            <a:ext cx="2743200" cy="274320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3" name="Shape 1"/>
          <p:cNvSpPr/>
          <p:nvPr/>
        </p:nvSpPr>
        <p:spPr>
          <a:xfrm>
            <a:off x="7795260" y="3200400"/>
            <a:ext cx="2743200" cy="2743200"/>
          </a:xfrm>
          <a:prstGeom prst="ellipse">
            <a:avLst/>
          </a:prstGeom>
          <a:solidFill>
            <a:srgbClr val="F96167">
              <a:alpha val="75000"/>
            </a:srgbClr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4" name="Text 2"/>
          <p:cNvSpPr/>
          <p:nvPr/>
        </p:nvSpPr>
        <p:spPr>
          <a:xfrm>
            <a:off x="457200" y="46907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  <a:latin typeface="Awesome Serif Italic VAR Regula" pitchFamily="2" charset="0"/>
                <a:ea typeface="Arial" pitchFamily="34" charset="-122"/>
                <a:cs typeface="Arial" pitchFamily="34" charset="-120"/>
              </a:rPr>
              <a:t>Conclusion &amp; Key Takeaways</a:t>
            </a:r>
            <a:endParaRPr lang="en-US" sz="3600" dirty="0">
              <a:latin typeface="Awesome Serif Italic VAR Regula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98418" y="1566444"/>
            <a:ext cx="7315200" cy="2403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This project demonstrates that while traditional NLP models like TF-IDF + SVM are powerful and efficient, </a:t>
            </a:r>
            <a:r>
              <a:rPr lang="en-US" sz="1600" b="1" dirty="0">
                <a:solidFill>
                  <a:schemeClr val="bg1"/>
                </a:solidFill>
              </a:rPr>
              <a:t>understanding human language requires deeper contextual models and better data representation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Built a sentiment analysis system using TF-IDF + SVC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Achieved ~79%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Learned importance of pre-processing and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Identified limitations in handling neutral and mixed 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Successfully deployed using </a:t>
            </a:r>
            <a:r>
              <a:rPr lang="en-IN" sz="1600" dirty="0" err="1">
                <a:solidFill>
                  <a:schemeClr val="bg1"/>
                </a:solidFill>
              </a:rPr>
              <a:t>Streamlit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40144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CADCFC"/>
                </a:solidFill>
                <a:latin typeface="Awesome Serif VAR Light Regular" pitchFamily="2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800" dirty="0">
              <a:latin typeface="Awesome Serif VAR Light Regular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EF46E0-172B-E2FF-12B0-63C705FDD412}"/>
              </a:ext>
            </a:extLst>
          </p:cNvPr>
          <p:cNvCxnSpPr>
            <a:cxnSpLocks/>
          </p:cNvCxnSpPr>
          <p:nvPr/>
        </p:nvCxnSpPr>
        <p:spPr>
          <a:xfrm>
            <a:off x="1440180" y="1143000"/>
            <a:ext cx="6606540" cy="0"/>
          </a:xfrm>
          <a:prstGeom prst="line">
            <a:avLst/>
          </a:prstGeom>
          <a:ln w="28575">
            <a:solidFill>
              <a:srgbClr val="F96167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1167</Words>
  <Application>Microsoft Office PowerPoint</Application>
  <PresentationFormat>On-screen Show (16:9)</PresentationFormat>
  <Paragraphs>291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 Black</vt:lpstr>
      <vt:lpstr>Awesome Serif Italic VAR Light </vt:lpstr>
      <vt:lpstr>Awesome Serif Italic VAR Regula</vt:lpstr>
      <vt:lpstr>Awesome Serif VAR Light Regular</vt:lpstr>
      <vt:lpstr>Awesome Serif VAR Medium Regula</vt:lpstr>
      <vt:lpstr>Calibri</vt:lpstr>
      <vt:lpstr>Futura Next</vt:lpstr>
      <vt:lpstr>Futura Next Medium</vt:lpstr>
      <vt:lpstr>KOLAK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Sentiment Analysis - E-commerce Product Reviews</dc:title>
  <dc:subject>PptxGenJS Presentation</dc:subject>
  <dc:creator>Kapil Amarsing Patil</dc:creator>
  <cp:lastModifiedBy>KAPIL PATIL</cp:lastModifiedBy>
  <cp:revision>17</cp:revision>
  <dcterms:created xsi:type="dcterms:W3CDTF">2026-03-22T19:40:29Z</dcterms:created>
  <dcterms:modified xsi:type="dcterms:W3CDTF">2026-03-25T21:50:52Z</dcterms:modified>
</cp:coreProperties>
</file>